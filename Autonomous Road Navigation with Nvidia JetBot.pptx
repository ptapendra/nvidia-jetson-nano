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5143500" cx="9144000"/>
  <p:notesSz cx="6858000" cy="9144000"/>
  <p:embeddedFontLst>
    <p:embeddedFont>
      <p:font typeface="Proxima Nova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24A16D-AD47-41F4-9DAB-C9A1E1FD92B2}">
  <a:tblStyle styleId="{9424A16D-AD47-41F4-9DAB-C9A1E1FD92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ProximaNova-bold.fntdata"/><Relationship Id="rId14" Type="http://schemas.openxmlformats.org/officeDocument/2006/relationships/slide" Target="slides/slide7.xml"/><Relationship Id="rId36" Type="http://schemas.openxmlformats.org/officeDocument/2006/relationships/font" Target="fonts/ProximaNova-regular.fntdata"/><Relationship Id="rId17" Type="http://schemas.openxmlformats.org/officeDocument/2006/relationships/slide" Target="slides/slide10.xml"/><Relationship Id="rId39" Type="http://schemas.openxmlformats.org/officeDocument/2006/relationships/font" Target="fonts/ProximaNova-boldItalic.fntdata"/><Relationship Id="rId16" Type="http://schemas.openxmlformats.org/officeDocument/2006/relationships/slide" Target="slides/slide9.xml"/><Relationship Id="rId38" Type="http://schemas.openxmlformats.org/officeDocument/2006/relationships/font" Target="fonts/ProximaNova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42e3e7cd_1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42e3e7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bab3a369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cbab3a369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32c2da83f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32c2da83f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32c2da83f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32c2da83f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d9c40d9f9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d9c40d9f9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347f052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347f052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347f052c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347f052c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347f052c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347f052c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32c2da83f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32c2da83f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344483a6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344483a6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346460869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346460869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346460869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346460869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346460869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346460869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344483a6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344483a6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346460869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5346460869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346460869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5346460869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346460869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346460869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346460869_3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5346460869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346460869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346460869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346460869_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346460869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346460869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5346460869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d4400e736_2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d4400e736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cb9a3abeb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cb9a3abe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742e3e7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742e3e7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5344483a6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5344483a6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344483a6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5344483a6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344483a6d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344483a6d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344483a6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5344483a6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drive.google.com/file/d/1EKhvd7JtSIM0MjmN-GRMajImtKZv1cgA/view" TargetMode="External"/><Relationship Id="rId4" Type="http://schemas.openxmlformats.org/officeDocument/2006/relationships/image" Target="../media/image3.jpg"/><Relationship Id="rId5" Type="http://schemas.openxmlformats.org/officeDocument/2006/relationships/hyperlink" Target="http://drive.google.com/file/d/1E4dUgHJAjrH9j-1BpYfyYrAQ_cS12f9K/view" TargetMode="External"/><Relationship Id="rId6" Type="http://schemas.openxmlformats.org/officeDocument/2006/relationships/image" Target="../media/image6.jpg"/><Relationship Id="rId7" Type="http://schemas.openxmlformats.org/officeDocument/2006/relationships/hyperlink" Target="http://drive.google.com/file/d/1E8MHCEkbgUDzh5rllR6i3WysTpcQ1C6l/view" TargetMode="External"/><Relationship Id="rId8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5" title="jetbot.jpg"/>
          <p:cNvPicPr preferRelativeResize="0"/>
          <p:nvPr/>
        </p:nvPicPr>
        <p:blipFill rotWithShape="1">
          <a:blip r:embed="rId3">
            <a:alphaModFix/>
          </a:blip>
          <a:srcRect b="12495" l="0" r="0" t="12502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5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Autonomous Road Navigation with Nvidia JetBot</a:t>
            </a:r>
            <a:endParaRPr b="1" sz="4000"/>
          </a:p>
        </p:txBody>
      </p:sp>
      <p:sp>
        <p:nvSpPr>
          <p:cNvPr id="106" name="Google Shape;106;p25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 sz="2400"/>
              <a:t>y</a:t>
            </a:r>
            <a:r>
              <a:rPr lang="en"/>
              <a:t> Jason Nguyen, Tapendra Pandey, Bharat Kandrigi, Nanvitha Challa, Rithwik Reddy</a:t>
            </a:r>
            <a:endParaRPr/>
          </a:p>
        </p:txBody>
      </p:sp>
      <p:cxnSp>
        <p:nvCxnSpPr>
          <p:cNvPr id="107" name="Google Shape;107;p25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Overview</a:t>
            </a:r>
            <a:endParaRPr sz="3600"/>
          </a:p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This project demonstrates how to implement autonomous path following on </a:t>
            </a:r>
            <a:r>
              <a:rPr b="1" lang="en" sz="2400"/>
              <a:t>JetBot </a:t>
            </a:r>
            <a:r>
              <a:rPr lang="en" sz="2400"/>
              <a:t>(a small- scale robotic system powered by NVIDIA Jetson Nano)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Problem Statement</a:t>
            </a:r>
            <a:endParaRPr sz="3600"/>
          </a:p>
        </p:txBody>
      </p:sp>
      <p:sp>
        <p:nvSpPr>
          <p:cNvPr id="119" name="Google Shape;119;p27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Traditional path following relies on explicit line detection or multiple sensors, making the system complex and less adaptable. 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Problem Statement</a:t>
            </a:r>
            <a:endParaRPr sz="3600"/>
          </a:p>
        </p:txBody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Traditional path following relies on explicit line detection or multiple sensors, making the system complex and less adaptable. </a:t>
            </a:r>
            <a:endParaRPr sz="2400">
              <a:solidFill>
                <a:srgbClr val="999999"/>
              </a:solidFill>
            </a:endParaRPr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/>
              <a:t>Our approach replaces this with end-to-end learning, where a neural network maps camera input directly to steering commands, simplifying the pipeline and enabling easy retraining for different path types.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Methodology</a:t>
            </a:r>
            <a:endParaRPr sz="3600"/>
          </a:p>
        </p:txBody>
      </p:sp>
      <p:sp>
        <p:nvSpPr>
          <p:cNvPr id="131" name="Google Shape;131;p29"/>
          <p:cNvSpPr/>
          <p:nvPr/>
        </p:nvSpPr>
        <p:spPr>
          <a:xfrm>
            <a:off x="599900" y="1390325"/>
            <a:ext cx="2080800" cy="9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Platform Configuration (JetBot + Controller Interface)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Methodology</a:t>
            </a:r>
            <a:endParaRPr sz="3600"/>
          </a:p>
        </p:txBody>
      </p:sp>
      <p:sp>
        <p:nvSpPr>
          <p:cNvPr id="137" name="Google Shape;137;p30"/>
          <p:cNvSpPr/>
          <p:nvPr/>
        </p:nvSpPr>
        <p:spPr>
          <a:xfrm>
            <a:off x="3176600" y="1390325"/>
            <a:ext cx="2080800" cy="9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Data Acquisition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(Camera Based Image Capturing)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8" name="Google Shape;138;p30"/>
          <p:cNvSpPr/>
          <p:nvPr/>
        </p:nvSpPr>
        <p:spPr>
          <a:xfrm>
            <a:off x="599900" y="1390325"/>
            <a:ext cx="2080800" cy="9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Platform Configuration (JetBot + Controller Interface)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39" name="Google Shape;139;p30"/>
          <p:cNvCxnSpPr>
            <a:stCxn id="138" idx="3"/>
            <a:endCxn id="137" idx="1"/>
          </p:cNvCxnSpPr>
          <p:nvPr/>
        </p:nvCxnSpPr>
        <p:spPr>
          <a:xfrm>
            <a:off x="2680700" y="1868075"/>
            <a:ext cx="4959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Methodology</a:t>
            </a:r>
            <a:endParaRPr sz="3600"/>
          </a:p>
        </p:txBody>
      </p:sp>
      <p:sp>
        <p:nvSpPr>
          <p:cNvPr id="145" name="Google Shape;145;p31"/>
          <p:cNvSpPr/>
          <p:nvPr/>
        </p:nvSpPr>
        <p:spPr>
          <a:xfrm>
            <a:off x="3176600" y="1390325"/>
            <a:ext cx="2080800" cy="9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Data Acquisition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(Camera Based Image Capturing)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p31"/>
          <p:cNvSpPr/>
          <p:nvPr/>
        </p:nvSpPr>
        <p:spPr>
          <a:xfrm>
            <a:off x="599900" y="1390325"/>
            <a:ext cx="2080800" cy="9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Platform Configuration (JetBot + Controller Interface)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5755650" y="1491225"/>
            <a:ext cx="2080800" cy="9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Model Training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(ResNet, MobileNet, ShuffleNet)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48" name="Google Shape;148;p31"/>
          <p:cNvCxnSpPr>
            <a:stCxn id="146" idx="3"/>
            <a:endCxn id="145" idx="1"/>
          </p:cNvCxnSpPr>
          <p:nvPr/>
        </p:nvCxnSpPr>
        <p:spPr>
          <a:xfrm>
            <a:off x="2680700" y="1868075"/>
            <a:ext cx="4959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31"/>
          <p:cNvCxnSpPr/>
          <p:nvPr/>
        </p:nvCxnSpPr>
        <p:spPr>
          <a:xfrm>
            <a:off x="5257400" y="1868075"/>
            <a:ext cx="49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Methodology</a:t>
            </a:r>
            <a:endParaRPr sz="3600"/>
          </a:p>
        </p:txBody>
      </p:sp>
      <p:sp>
        <p:nvSpPr>
          <p:cNvPr id="155" name="Google Shape;155;p32"/>
          <p:cNvSpPr/>
          <p:nvPr/>
        </p:nvSpPr>
        <p:spPr>
          <a:xfrm>
            <a:off x="3176600" y="1390325"/>
            <a:ext cx="2080800" cy="9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Data Acquisition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(Camera Based Image Capturing)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6" name="Google Shape;156;p32"/>
          <p:cNvSpPr/>
          <p:nvPr/>
        </p:nvSpPr>
        <p:spPr>
          <a:xfrm>
            <a:off x="599900" y="1390325"/>
            <a:ext cx="2080800" cy="9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Platform Configuration (JetBot + Controller Interface)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7" name="Google Shape;157;p32"/>
          <p:cNvSpPr/>
          <p:nvPr/>
        </p:nvSpPr>
        <p:spPr>
          <a:xfrm>
            <a:off x="5755650" y="1491225"/>
            <a:ext cx="2080800" cy="9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Model Training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(ResNet, MobileNet, ShuffleNet)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58" name="Google Shape;158;p32"/>
          <p:cNvCxnSpPr>
            <a:stCxn id="156" idx="3"/>
            <a:endCxn id="155" idx="1"/>
          </p:cNvCxnSpPr>
          <p:nvPr/>
        </p:nvCxnSpPr>
        <p:spPr>
          <a:xfrm>
            <a:off x="2680700" y="1868075"/>
            <a:ext cx="4959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32"/>
          <p:cNvCxnSpPr/>
          <p:nvPr/>
        </p:nvCxnSpPr>
        <p:spPr>
          <a:xfrm>
            <a:off x="5257400" y="1868075"/>
            <a:ext cx="49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32"/>
          <p:cNvSpPr/>
          <p:nvPr/>
        </p:nvSpPr>
        <p:spPr>
          <a:xfrm>
            <a:off x="5755650" y="2825325"/>
            <a:ext cx="2080800" cy="9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Model Implementation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(On Jetbot)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61" name="Google Shape;161;p32"/>
          <p:cNvCxnSpPr>
            <a:stCxn id="157" idx="2"/>
            <a:endCxn id="160" idx="0"/>
          </p:cNvCxnSpPr>
          <p:nvPr/>
        </p:nvCxnSpPr>
        <p:spPr>
          <a:xfrm>
            <a:off x="6796050" y="2446725"/>
            <a:ext cx="0" cy="37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Models</a:t>
            </a:r>
            <a:endParaRPr sz="3600"/>
          </a:p>
        </p:txBody>
      </p:sp>
      <p:sp>
        <p:nvSpPr>
          <p:cNvPr id="167" name="Google Shape;167;p33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Research involved finding what different models to use. We came across several, and used the following: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 sz="2400">
                <a:solidFill>
                  <a:schemeClr val="dk1"/>
                </a:solidFill>
              </a:rPr>
              <a:t>Resnet18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 sz="2400">
                <a:solidFill>
                  <a:schemeClr val="dk1"/>
                </a:solidFill>
              </a:rPr>
              <a:t>Shufflenet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 sz="2400">
                <a:solidFill>
                  <a:schemeClr val="dk1"/>
                </a:solidFill>
              </a:rPr>
              <a:t>Mobilenet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Models (MobileNet)</a:t>
            </a:r>
            <a:endParaRPr sz="3600"/>
          </a:p>
        </p:txBody>
      </p:sp>
      <p:sp>
        <p:nvSpPr>
          <p:cNvPr id="173" name="Google Shape;173;p34"/>
          <p:cNvSpPr txBox="1"/>
          <p:nvPr>
            <p:ph idx="1" type="body"/>
          </p:nvPr>
        </p:nvSpPr>
        <p:spPr>
          <a:xfrm>
            <a:off x="311700" y="1155550"/>
            <a:ext cx="8520600" cy="3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Model Configuration: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The model used is torchvision.models.mobilenet_v2(pretrained=True).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roxima Nova"/>
              <a:buChar char="●"/>
            </a:pPr>
            <a:r>
              <a:rPr lang="en" sz="1600">
                <a:solidFill>
                  <a:schemeClr val="dk1"/>
                </a:solidFill>
              </a:rPr>
              <a:t>MobileNetV2 is a lightweight architecture designed for efficient inference on mobile and edge devices like Jetson Nano.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original classifier (used for ImageNet's 1000 classes) is replaced with:</a:t>
            </a:r>
            <a:br>
              <a:rPr lang="en" sz="1600">
                <a:solidFill>
                  <a:schemeClr val="dk1"/>
                </a:solidFill>
              </a:rPr>
            </a:b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	model.classifier[1] = nn.Linear(model.last_channel, 2)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roxima Nova"/>
              <a:buChar char="●"/>
            </a:pPr>
            <a:r>
              <a:rPr lang="en" sz="1600">
                <a:solidFill>
                  <a:schemeClr val="dk1"/>
                </a:solidFill>
              </a:rPr>
              <a:t> This modification adapts the network to predict 2 continuous outputs (X and Y steering coordinates).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Models (</a:t>
            </a:r>
            <a:r>
              <a:rPr lang="en" sz="3600"/>
              <a:t>MobileNet</a:t>
            </a:r>
            <a:r>
              <a:rPr lang="en" sz="3600"/>
              <a:t>)</a:t>
            </a:r>
            <a:endParaRPr sz="3600"/>
          </a:p>
        </p:txBody>
      </p:sp>
      <p:sp>
        <p:nvSpPr>
          <p:cNvPr id="179" name="Google Shape;179;p35"/>
          <p:cNvSpPr txBox="1"/>
          <p:nvPr>
            <p:ph idx="1" type="body"/>
          </p:nvPr>
        </p:nvSpPr>
        <p:spPr>
          <a:xfrm>
            <a:off x="311700" y="1155550"/>
            <a:ext cx="8520600" cy="3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Dataset and Preprocessing: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roxima Nova"/>
              <a:buChar char="●"/>
            </a:pPr>
            <a:r>
              <a:rPr lang="en" sz="1600">
                <a:solidFill>
                  <a:schemeClr val="dk1"/>
                </a:solidFill>
              </a:rPr>
              <a:t>A custom dataset class XYDataset is defined. It: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roxima Nova"/>
              <a:buChar char="○"/>
            </a:pPr>
            <a:r>
              <a:rPr lang="en" sz="1600">
                <a:solidFill>
                  <a:schemeClr val="dk1"/>
                </a:solidFill>
              </a:rPr>
              <a:t>Loads .jpg images and parses X and Y labels from filenames.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roxima Nova"/>
              <a:buChar char="○"/>
            </a:pPr>
            <a:r>
              <a:rPr lang="en" sz="1600">
                <a:solidFill>
                  <a:schemeClr val="dk1"/>
                </a:solidFill>
              </a:rPr>
              <a:t>Applies data augmentation: color jittering and random horizontal flips.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roxima Nova"/>
              <a:buChar char="○"/>
            </a:pPr>
            <a:r>
              <a:rPr lang="en" sz="1600">
                <a:solidFill>
                  <a:schemeClr val="dk1"/>
                </a:solidFill>
              </a:rPr>
              <a:t>Resizes all images to 224×224, then normalizes using ImageNet’s mean and std.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roxima Nova"/>
              <a:buChar char="○"/>
            </a:pPr>
            <a:r>
              <a:rPr lang="en" sz="1600">
                <a:solidFill>
                  <a:schemeClr val="dk1"/>
                </a:solidFill>
              </a:rPr>
              <a:t>Flipped images have X-coordinate negated to maintain semantic correctness.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Models (</a:t>
            </a:r>
            <a:r>
              <a:rPr lang="en" sz="3600"/>
              <a:t>MobileNet</a:t>
            </a:r>
            <a:r>
              <a:rPr lang="en" sz="3600"/>
              <a:t>)</a:t>
            </a:r>
            <a:endParaRPr sz="3600"/>
          </a:p>
        </p:txBody>
      </p:sp>
      <p:sp>
        <p:nvSpPr>
          <p:cNvPr id="185" name="Google Shape;185;p36"/>
          <p:cNvSpPr txBox="1"/>
          <p:nvPr>
            <p:ph idx="1" type="body"/>
          </p:nvPr>
        </p:nvSpPr>
        <p:spPr>
          <a:xfrm>
            <a:off x="311700" y="1155550"/>
            <a:ext cx="8520600" cy="3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Training Loop Details: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n" sz="1400">
                <a:solidFill>
                  <a:schemeClr val="dk1"/>
                </a:solidFill>
              </a:rPr>
              <a:t>For each epoch: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>
                <a:solidFill>
                  <a:schemeClr val="dk1"/>
                </a:solidFill>
              </a:rPr>
              <a:t>The model is set to train() mode.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n">
                <a:solidFill>
                  <a:schemeClr val="dk1"/>
                </a:solidFill>
              </a:rPr>
              <a:t>All batches are passed through the model.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n">
                <a:solidFill>
                  <a:schemeClr val="dk1"/>
                </a:solidFill>
              </a:rPr>
              <a:t>MSE loss is computed and </a:t>
            </a:r>
            <a:r>
              <a:rPr lang="en">
                <a:solidFill>
                  <a:schemeClr val="dk1"/>
                </a:solidFill>
              </a:rPr>
              <a:t>back propagated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</a:rPr>
              <a:t>After training, it enters eval() mode to compute validation loss.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n" sz="1400">
                <a:solidFill>
                  <a:schemeClr val="dk1"/>
                </a:solidFill>
              </a:rPr>
              <a:t>Best model (lowest validation loss) is saved to disk.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Models (</a:t>
            </a:r>
            <a:r>
              <a:rPr lang="en" sz="3600"/>
              <a:t>MobileNet</a:t>
            </a:r>
            <a:r>
              <a:rPr lang="en" sz="3600"/>
              <a:t>)</a:t>
            </a:r>
            <a:endParaRPr sz="3600"/>
          </a:p>
        </p:txBody>
      </p:sp>
      <p:sp>
        <p:nvSpPr>
          <p:cNvPr id="191" name="Google Shape;191;p37"/>
          <p:cNvSpPr txBox="1"/>
          <p:nvPr>
            <p:ph idx="1" type="body"/>
          </p:nvPr>
        </p:nvSpPr>
        <p:spPr>
          <a:xfrm>
            <a:off x="311700" y="1155550"/>
            <a:ext cx="8520600" cy="3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Why MobileNetV2?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000000"/>
                </a:solidFill>
              </a:rPr>
              <a:t>We selected this model for deployment due to its efficient performance, low inference latency, and consistent steering accuracy across trials.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000000"/>
                </a:solidFill>
              </a:rPr>
              <a:t>Despite having fewer parameters (~3.4M), it performs well in our road-following task.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Models (ResNet18)</a:t>
            </a:r>
            <a:endParaRPr sz="3600"/>
          </a:p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Network Depth &amp; Design: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000000"/>
                </a:solidFill>
              </a:rPr>
              <a:t>ResNet18 has 18 layers with residual blocks and skip connections.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000000"/>
                </a:solidFill>
              </a:rPr>
              <a:t>Known for its stability and high capacity to learn visual features.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Models (ResNet18)</a:t>
            </a:r>
            <a:endParaRPr sz="3600"/>
          </a:p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Training Setup: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</a:rPr>
              <a:t>Epochs</a:t>
            </a:r>
            <a:r>
              <a:rPr lang="en" sz="1500">
                <a:solidFill>
                  <a:srgbClr val="000000"/>
                </a:solidFill>
              </a:rPr>
              <a:t>: 70 — significantly longer than MobileNet/ShuffleNet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</a:rPr>
              <a:t>Batch size</a:t>
            </a:r>
            <a:r>
              <a:rPr lang="en" sz="1500">
                <a:solidFill>
                  <a:srgbClr val="000000"/>
                </a:solidFill>
              </a:rPr>
              <a:t>: 8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</a:rPr>
              <a:t>Optimizer</a:t>
            </a:r>
            <a:r>
              <a:rPr lang="en" sz="1500">
                <a:solidFill>
                  <a:srgbClr val="000000"/>
                </a:solidFill>
              </a:rPr>
              <a:t>: </a:t>
            </a:r>
            <a:r>
              <a:rPr lang="en" sz="1500">
                <a:solidFill>
                  <a:schemeClr val="dk1"/>
                </a:solidFill>
              </a:rPr>
              <a:t>Adam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</a:rPr>
              <a:t>Loss</a:t>
            </a:r>
            <a:r>
              <a:rPr lang="en" sz="1500">
                <a:solidFill>
                  <a:srgbClr val="000000"/>
                </a:solidFill>
              </a:rPr>
              <a:t>: MSE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000000"/>
                </a:solidFill>
              </a:rPr>
              <a:t>Same dataset and preprocessing pipeline as MobileNet</a:t>
            </a:r>
            <a:endParaRPr b="1"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Models (ResNet18)</a:t>
            </a:r>
            <a:endParaRPr sz="3600"/>
          </a:p>
        </p:txBody>
      </p:sp>
      <p:sp>
        <p:nvSpPr>
          <p:cNvPr id="209" name="Google Shape;209;p40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Why ResNet18?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Provides strong feature extraction, particularly helpful in complex scenarios.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However, training time and inference are heavier on Jetson Nano.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The model contains ~11.7 million parameters, making it computationally expensive.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Models (ResNet18)</a:t>
            </a:r>
            <a:endParaRPr sz="3600"/>
          </a:p>
        </p:txBody>
      </p:sp>
      <p:sp>
        <p:nvSpPr>
          <p:cNvPr id="215" name="Google Shape;215;p41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Deployment Tradeoffs: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000000"/>
                </a:solidFill>
              </a:rPr>
              <a:t>While training accuracy might be high, real-time performance is compromised.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000000"/>
                </a:solidFill>
              </a:rPr>
              <a:t>Best used for experimentation, not for edge-device deployment.</a:t>
            </a:r>
            <a:endParaRPr b="1"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Models (ShuffleNet)</a:t>
            </a:r>
            <a:endParaRPr sz="3600"/>
          </a:p>
        </p:txBody>
      </p:sp>
      <p:sp>
        <p:nvSpPr>
          <p:cNvPr id="221" name="Google Shape;221;p42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Network Design: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ShuffleNet uses channel shuffling and pointwise group convolutions for reducing computation.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000000"/>
                </a:solidFill>
              </a:rPr>
              <a:t>Parameters: ~2.3 million — lighter than both MobileNet and ResNet.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Models (ShuffleNet)</a:t>
            </a:r>
            <a:endParaRPr sz="3600"/>
          </a:p>
        </p:txBody>
      </p:sp>
      <p:sp>
        <p:nvSpPr>
          <p:cNvPr id="227" name="Google Shape;227;p43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Training Setup: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</a:rPr>
              <a:t>Epochs</a:t>
            </a:r>
            <a:r>
              <a:rPr lang="en" sz="1500">
                <a:solidFill>
                  <a:srgbClr val="000000"/>
                </a:solidFill>
              </a:rPr>
              <a:t>: 18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</a:rPr>
              <a:t>Batch Size</a:t>
            </a:r>
            <a:r>
              <a:rPr lang="en" sz="1500">
                <a:solidFill>
                  <a:srgbClr val="000000"/>
                </a:solidFill>
              </a:rPr>
              <a:t>: 8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</a:rPr>
              <a:t>Loss Function</a:t>
            </a:r>
            <a:r>
              <a:rPr lang="en" sz="1500">
                <a:solidFill>
                  <a:srgbClr val="000000"/>
                </a:solidFill>
              </a:rPr>
              <a:t>: MSE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</a:rPr>
              <a:t>Optimizer</a:t>
            </a:r>
            <a:r>
              <a:rPr lang="en" sz="1500">
                <a:solidFill>
                  <a:srgbClr val="000000"/>
                </a:solidFill>
              </a:rPr>
              <a:t>: Adam</a:t>
            </a:r>
            <a:endParaRPr b="1"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Models (ShuffleNet)</a:t>
            </a:r>
            <a:endParaRPr sz="3600"/>
          </a:p>
        </p:txBody>
      </p:sp>
      <p:sp>
        <p:nvSpPr>
          <p:cNvPr id="233" name="Google Shape;233;p44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Why ShuffleNet?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000000"/>
                </a:solidFill>
              </a:rPr>
              <a:t>Performs faster than ResNet18 and is comparable to MobileNet.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However, the results in your testing phase showed slightly lower stability than MobileNet.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000000"/>
                </a:solidFill>
              </a:rPr>
              <a:t>Great alternative when model size and inference speed are top priority, but needs careful tuning.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Comparison</a:t>
            </a:r>
            <a:endParaRPr sz="3600"/>
          </a:p>
        </p:txBody>
      </p:sp>
      <p:graphicFrame>
        <p:nvGraphicFramePr>
          <p:cNvPr id="239" name="Google Shape;239;p45"/>
          <p:cNvGraphicFramePr/>
          <p:nvPr/>
        </p:nvGraphicFramePr>
        <p:xfrm>
          <a:off x="677250" y="174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{9424A16D-AD47-41F4-9DAB-C9A1E1FD92B2}</a:tableStyleId>
              </a:tblPr>
              <a:tblGrid>
                <a:gridCol w="1298250"/>
                <a:gridCol w="1298250"/>
                <a:gridCol w="1298250"/>
                <a:gridCol w="1298250"/>
                <a:gridCol w="1298250"/>
                <a:gridCol w="1298250"/>
              </a:tblGrid>
              <a:tr h="737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Model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Parameters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Epochs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Inference Speed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Accuracy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Jetson Suitability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3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ResNet18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~11.7M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(Too heavy)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ShuffleNet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~2.3M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MobileNetV2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~3.4M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choice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6"/>
          <p:cNvSpPr txBox="1"/>
          <p:nvPr>
            <p:ph type="title"/>
          </p:nvPr>
        </p:nvSpPr>
        <p:spPr>
          <a:xfrm>
            <a:off x="265500" y="619725"/>
            <a:ext cx="4045200" cy="69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Training</a:t>
            </a:r>
            <a:endParaRPr b="1"/>
          </a:p>
        </p:txBody>
      </p:sp>
      <p:sp>
        <p:nvSpPr>
          <p:cNvPr id="245" name="Google Shape;245;p46"/>
          <p:cNvSpPr txBox="1"/>
          <p:nvPr>
            <p:ph idx="1" type="subTitle"/>
          </p:nvPr>
        </p:nvSpPr>
        <p:spPr>
          <a:xfrm>
            <a:off x="265500" y="1314823"/>
            <a:ext cx="4045200" cy="37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Certain models require a specific number of epochs to avoid issues such as overfitting during training.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found that smaller models needed less training epochs, as shown in the diagram</a:t>
            </a:r>
            <a:endParaRPr/>
          </a:p>
        </p:txBody>
      </p:sp>
      <p:sp>
        <p:nvSpPr>
          <p:cNvPr id="246" name="Google Shape;246;p46"/>
          <p:cNvSpPr txBox="1"/>
          <p:nvPr>
            <p:ph idx="2" type="body"/>
          </p:nvPr>
        </p:nvSpPr>
        <p:spPr>
          <a:xfrm>
            <a:off x="5744975" y="40234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MobilenetV2</a:t>
            </a:r>
            <a:endParaRPr sz="800"/>
          </a:p>
        </p:txBody>
      </p:sp>
      <p:sp>
        <p:nvSpPr>
          <p:cNvPr id="247" name="Google Shape;247;p46"/>
          <p:cNvSpPr/>
          <p:nvPr/>
        </p:nvSpPr>
        <p:spPr>
          <a:xfrm>
            <a:off x="5744825" y="3176500"/>
            <a:ext cx="689700" cy="84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6"/>
          <p:cNvSpPr txBox="1"/>
          <p:nvPr>
            <p:ph idx="2" type="body"/>
          </p:nvPr>
        </p:nvSpPr>
        <p:spPr>
          <a:xfrm>
            <a:off x="5745100" y="3442738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13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49" name="Google Shape;249;p46"/>
          <p:cNvSpPr txBox="1"/>
          <p:nvPr>
            <p:ph idx="2" type="body"/>
          </p:nvPr>
        </p:nvSpPr>
        <p:spPr>
          <a:xfrm>
            <a:off x="6590863" y="40234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Shufflenet</a:t>
            </a:r>
            <a:endParaRPr sz="800"/>
          </a:p>
        </p:txBody>
      </p:sp>
      <p:sp>
        <p:nvSpPr>
          <p:cNvPr id="250" name="Google Shape;250;p46"/>
          <p:cNvSpPr/>
          <p:nvPr/>
        </p:nvSpPr>
        <p:spPr>
          <a:xfrm>
            <a:off x="6590925" y="2895850"/>
            <a:ext cx="689400" cy="112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6"/>
          <p:cNvSpPr txBox="1"/>
          <p:nvPr>
            <p:ph idx="2" type="body"/>
          </p:nvPr>
        </p:nvSpPr>
        <p:spPr>
          <a:xfrm>
            <a:off x="6590925" y="32845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18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52" name="Google Shape;252;p46"/>
          <p:cNvSpPr txBox="1"/>
          <p:nvPr>
            <p:ph idx="2" type="body"/>
          </p:nvPr>
        </p:nvSpPr>
        <p:spPr>
          <a:xfrm>
            <a:off x="7436850" y="40234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Resnet18</a:t>
            </a:r>
            <a:endParaRPr sz="800"/>
          </a:p>
        </p:txBody>
      </p:sp>
      <p:sp>
        <p:nvSpPr>
          <p:cNvPr id="253" name="Google Shape;253;p46"/>
          <p:cNvSpPr/>
          <p:nvPr/>
        </p:nvSpPr>
        <p:spPr>
          <a:xfrm>
            <a:off x="7436750" y="1426351"/>
            <a:ext cx="689400" cy="259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6"/>
          <p:cNvSpPr txBox="1"/>
          <p:nvPr>
            <p:ph idx="2" type="body"/>
          </p:nvPr>
        </p:nvSpPr>
        <p:spPr>
          <a:xfrm>
            <a:off x="7430963" y="24145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70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55" name="Google Shape;255;p46"/>
          <p:cNvSpPr txBox="1"/>
          <p:nvPr>
            <p:ph idx="2" type="body"/>
          </p:nvPr>
        </p:nvSpPr>
        <p:spPr>
          <a:xfrm>
            <a:off x="7927800" y="254200"/>
            <a:ext cx="757800" cy="21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Epochs</a:t>
            </a:r>
            <a:endParaRPr sz="1300"/>
          </a:p>
        </p:txBody>
      </p:sp>
      <p:sp>
        <p:nvSpPr>
          <p:cNvPr id="256" name="Google Shape;256;p46"/>
          <p:cNvSpPr/>
          <p:nvPr/>
        </p:nvSpPr>
        <p:spPr>
          <a:xfrm>
            <a:off x="8685573" y="254209"/>
            <a:ext cx="2190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46" title="Jupyter_logo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1325" y="254211"/>
            <a:ext cx="757800" cy="878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7"/>
          <p:cNvSpPr txBox="1"/>
          <p:nvPr>
            <p:ph type="title"/>
          </p:nvPr>
        </p:nvSpPr>
        <p:spPr>
          <a:xfrm>
            <a:off x="265500" y="270050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Testing Methodology</a:t>
            </a:r>
            <a:endParaRPr b="1"/>
          </a:p>
        </p:txBody>
      </p:sp>
      <p:sp>
        <p:nvSpPr>
          <p:cNvPr id="263" name="Google Shape;263;p47"/>
          <p:cNvSpPr txBox="1"/>
          <p:nvPr>
            <p:ph idx="2" type="body"/>
          </p:nvPr>
        </p:nvSpPr>
        <p:spPr>
          <a:xfrm>
            <a:off x="4939500" y="537125"/>
            <a:ext cx="4127100" cy="388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</a:t>
            </a:r>
            <a:r>
              <a:rPr lang="en"/>
              <a:t>Steps: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had the JetBot complete  the route three times in succession.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JetBot deviated from the route at any point, it was considered a failure and the test was restarted.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A shorter total time to complete the three loops indicated better performance.</a:t>
            </a:r>
            <a:endParaRPr/>
          </a:p>
        </p:txBody>
      </p:sp>
      <p:pic>
        <p:nvPicPr>
          <p:cNvPr id="264" name="Google Shape;26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75" y="1918200"/>
            <a:ext cx="3524450" cy="250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/>
          <p:nvPr>
            <p:ph type="title"/>
          </p:nvPr>
        </p:nvSpPr>
        <p:spPr>
          <a:xfrm>
            <a:off x="311700" y="323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Findings</a:t>
            </a:r>
            <a:endParaRPr b="1" sz="3600"/>
          </a:p>
        </p:txBody>
      </p:sp>
      <p:sp>
        <p:nvSpPr>
          <p:cNvPr id="270" name="Google Shape;270;p48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 </a:t>
            </a:r>
            <a:endParaRPr sz="2400"/>
          </a:p>
        </p:txBody>
      </p:sp>
      <p:pic>
        <p:nvPicPr>
          <p:cNvPr id="271" name="Google Shape;27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2943650"/>
            <a:ext cx="5641426" cy="162522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8"/>
          <p:cNvSpPr txBox="1"/>
          <p:nvPr>
            <p:ph idx="4294967295" type="subTitle"/>
          </p:nvPr>
        </p:nvSpPr>
        <p:spPr>
          <a:xfrm>
            <a:off x="265500" y="1038600"/>
            <a:ext cx="8048400" cy="18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Overall, we found that ResNet18 was the most robust. The highest speed gain at which the JetBot successfully completed three loops was 0.55. MobileNetV2 ranked second, with a maximum speed gain of 0.50, while ShuffleNet came last, with a top speed gain of 0.32.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 comparison of the 3 models is shown below:</a:t>
            </a:r>
            <a:endParaRPr/>
          </a:p>
        </p:txBody>
      </p:sp>
      <p:pic>
        <p:nvPicPr>
          <p:cNvPr id="273" name="Google Shape;273;p48" title="jetbot_800x6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8807" y="2571750"/>
            <a:ext cx="2498826" cy="196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Conclusion</a:t>
            </a:r>
            <a:endParaRPr sz="3600"/>
          </a:p>
        </p:txBody>
      </p:sp>
      <p:sp>
        <p:nvSpPr>
          <p:cNvPr id="279" name="Google Shape;279;p49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Resnet performed the best overall, while mobilenet came in second and shufflenet came in third.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Future Works</a:t>
            </a:r>
            <a:endParaRPr sz="3600"/>
          </a:p>
        </p:txBody>
      </p:sp>
      <p:sp>
        <p:nvSpPr>
          <p:cNvPr id="285" name="Google Shape;285;p50"/>
          <p:cNvSpPr txBox="1"/>
          <p:nvPr>
            <p:ph idx="1" type="body"/>
          </p:nvPr>
        </p:nvSpPr>
        <p:spPr>
          <a:xfrm>
            <a:off x="311700" y="1203850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Model Optimization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Custom Training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Multi-model Integration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Real-time Navigation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Cloud Offloading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91" name="Google Shape;291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L. Li, H. P. H. Shum, and T. P. Breckon, “Less is more: Reducing task and model complexity for 3d point cloud semantic segmentation,” 2023. [Online]. Available: https://arxiv.org/abs/2303.11203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NVIDIA, “NVIDIA TensorRT,” https://developer.nvidia.com/tensorrt, 2025, accessed: 2025-04-30. [Online]. Available: https://developer.nvidia. com/tensorrt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type="title"/>
          </p:nvPr>
        </p:nvSpPr>
        <p:spPr>
          <a:xfrm>
            <a:off x="159550" y="-58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Demo</a:t>
            </a:r>
            <a:endParaRPr sz="3600"/>
          </a:p>
        </p:txBody>
      </p:sp>
      <p:pic>
        <p:nvPicPr>
          <p:cNvPr id="297" name="Google Shape;297;p52" title="MobileNet_Successful_30seconds_00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700" y="617825"/>
            <a:ext cx="2148549" cy="3819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52" title="Resnet_Successful_23_seconds_for_a_lap(2 rounds in vide)_001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00399" y="646638"/>
            <a:ext cx="2149300" cy="3820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52" title="ShuffleNet_Success_40seconds_Lap(video needs to be cropped)_001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30849" y="720575"/>
            <a:ext cx="2149300" cy="382097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52"/>
          <p:cNvSpPr txBox="1"/>
          <p:nvPr/>
        </p:nvSpPr>
        <p:spPr>
          <a:xfrm>
            <a:off x="1023725" y="4541550"/>
            <a:ext cx="160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MobileNet- </a:t>
            </a:r>
            <a:r>
              <a:rPr i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30 sec</a:t>
            </a:r>
            <a:endParaRPr i="1" sz="1000"/>
          </a:p>
        </p:txBody>
      </p:sp>
      <p:sp>
        <p:nvSpPr>
          <p:cNvPr id="301" name="Google Shape;301;p52"/>
          <p:cNvSpPr txBox="1"/>
          <p:nvPr/>
        </p:nvSpPr>
        <p:spPr>
          <a:xfrm>
            <a:off x="4192600" y="4541550"/>
            <a:ext cx="127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ResNet - </a:t>
            </a:r>
            <a:r>
              <a:rPr i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23sec</a:t>
            </a:r>
            <a:endParaRPr i="1" sz="1000"/>
          </a:p>
        </p:txBody>
      </p:sp>
      <p:sp>
        <p:nvSpPr>
          <p:cNvPr id="302" name="Google Shape;302;p52"/>
          <p:cNvSpPr txBox="1"/>
          <p:nvPr/>
        </p:nvSpPr>
        <p:spPr>
          <a:xfrm>
            <a:off x="6935500" y="4541550"/>
            <a:ext cx="160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ShuffleNet - </a:t>
            </a:r>
            <a:r>
              <a:rPr i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40sec</a:t>
            </a:r>
            <a:endParaRPr i="1"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